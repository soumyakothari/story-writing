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Bebas Neue Bold" charset="1" panose="020B0606020202050201"/>
      <p:regular r:id="rId14"/>
    </p:embeddedFont>
    <p:embeddedFont>
      <p:font typeface="Neo Tech" charset="1" panose="020B0504030504040204"/>
      <p:regular r:id="rId15"/>
    </p:embeddedFont>
    <p:embeddedFont>
      <p:font typeface="Bebas Neue" charset="1" panose="00000500000000000000"/>
      <p:regular r:id="rId16"/>
    </p:embeddedFont>
    <p:embeddedFont>
      <p:font typeface="Neo Tech Light" charset="1" panose="020B0304030504040204"/>
      <p:regular r:id="rId17"/>
    </p:embeddedFont>
    <p:embeddedFont>
      <p:font typeface="Canva Sans Bold" charset="1" panose="020B0803030501040103"/>
      <p:regular r:id="rId18"/>
    </p:embeddedFont>
    <p:embeddedFont>
      <p:font typeface="Canva Sans" charset="1" panose="020B0503030501040103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846037" y="2841962"/>
            <a:ext cx="7413263" cy="270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999"/>
              </a:lnSpc>
            </a:pPr>
            <a:r>
              <a:rPr lang="en-US" sz="6999" b="true">
                <a:solidFill>
                  <a:srgbClr val="402813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Story Text Generation using RNN, LSTM, and GRU Models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8651353" cy="8229600"/>
          </a:xfrm>
          <a:custGeom>
            <a:avLst/>
            <a:gdLst/>
            <a:ahLst/>
            <a:cxnLst/>
            <a:rect r="r" b="b" t="t" l="l"/>
            <a:pathLst>
              <a:path h="8229600" w="8651353">
                <a:moveTo>
                  <a:pt x="0" y="0"/>
                </a:moveTo>
                <a:lnTo>
                  <a:pt x="8651353" y="0"/>
                </a:lnTo>
                <a:lnTo>
                  <a:pt x="865135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959823" y="8457751"/>
            <a:ext cx="6275932" cy="800549"/>
            <a:chOff x="0" y="0"/>
            <a:chExt cx="1652920" cy="2108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52920" cy="210844"/>
            </a:xfrm>
            <a:custGeom>
              <a:avLst/>
              <a:gdLst/>
              <a:ahLst/>
              <a:cxnLst/>
              <a:rect r="r" b="b" t="t" l="l"/>
              <a:pathLst>
                <a:path h="210844" w="1652920">
                  <a:moveTo>
                    <a:pt x="0" y="0"/>
                  </a:moveTo>
                  <a:lnTo>
                    <a:pt x="1652920" y="0"/>
                  </a:lnTo>
                  <a:lnTo>
                    <a:pt x="1652920" y="210844"/>
                  </a:lnTo>
                  <a:lnTo>
                    <a:pt x="0" y="21084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402813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652920" cy="2489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961522" y="8470667"/>
            <a:ext cx="265384" cy="774718"/>
            <a:chOff x="0" y="0"/>
            <a:chExt cx="69895" cy="20404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9895" cy="204041"/>
            </a:xfrm>
            <a:custGeom>
              <a:avLst/>
              <a:gdLst/>
              <a:ahLst/>
              <a:cxnLst/>
              <a:rect r="r" b="b" t="t" l="l"/>
              <a:pathLst>
                <a:path h="204041" w="69895">
                  <a:moveTo>
                    <a:pt x="0" y="0"/>
                  </a:moveTo>
                  <a:lnTo>
                    <a:pt x="69895" y="0"/>
                  </a:lnTo>
                  <a:lnTo>
                    <a:pt x="69895" y="204041"/>
                  </a:lnTo>
                  <a:lnTo>
                    <a:pt x="0" y="204041"/>
                  </a:lnTo>
                  <a:close/>
                </a:path>
              </a:pathLst>
            </a:custGeom>
            <a:solidFill>
              <a:srgbClr val="BDADD6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69895" cy="2421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959823" y="8696100"/>
            <a:ext cx="60017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6"/>
              </a:lnSpc>
            </a:pPr>
            <a:r>
              <a:rPr lang="en-US" sz="1930">
                <a:solidFill>
                  <a:srgbClr val="402813"/>
                </a:solidFill>
                <a:latin typeface="Neo Tech"/>
                <a:ea typeface="Neo Tech"/>
                <a:cs typeface="Neo Tech"/>
                <a:sym typeface="Neo Tech"/>
              </a:rPr>
              <a:t>DRIVING INNOVATION THROUGH COLLABORATION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028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-9525"/>
            <a:ext cx="16230600" cy="1038225"/>
            <a:chOff x="0" y="0"/>
            <a:chExt cx="4274726" cy="2734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73442"/>
            </a:xfrm>
            <a:custGeom>
              <a:avLst/>
              <a:gdLst/>
              <a:ahLst/>
              <a:cxnLst/>
              <a:rect r="r" b="b" t="t" l="l"/>
              <a:pathLst>
                <a:path h="273442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73442"/>
                  </a:lnTo>
                  <a:lnTo>
                    <a:pt x="0" y="273442"/>
                  </a:lnTo>
                  <a:close/>
                </a:path>
              </a:pathLst>
            </a:custGeom>
            <a:solidFill>
              <a:srgbClr val="BDADD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311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45545" y="3200400"/>
            <a:ext cx="6775803" cy="190500"/>
            <a:chOff x="0" y="0"/>
            <a:chExt cx="1784574" cy="5017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84574" cy="50173"/>
            </a:xfrm>
            <a:custGeom>
              <a:avLst/>
              <a:gdLst/>
              <a:ahLst/>
              <a:cxnLst/>
              <a:rect r="r" b="b" t="t" l="l"/>
              <a:pathLst>
                <a:path h="50173" w="1784574">
                  <a:moveTo>
                    <a:pt x="0" y="0"/>
                  </a:moveTo>
                  <a:lnTo>
                    <a:pt x="1784574" y="0"/>
                  </a:lnTo>
                  <a:lnTo>
                    <a:pt x="1784574" y="50173"/>
                  </a:lnTo>
                  <a:lnTo>
                    <a:pt x="0" y="5017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784574" cy="88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9144000" y="1608861"/>
            <a:ext cx="1872566" cy="1939570"/>
          </a:xfrm>
          <a:custGeom>
            <a:avLst/>
            <a:gdLst/>
            <a:ahLst/>
            <a:cxnLst/>
            <a:rect r="r" b="b" t="t" l="l"/>
            <a:pathLst>
              <a:path h="1939570" w="1872566">
                <a:moveTo>
                  <a:pt x="0" y="0"/>
                </a:moveTo>
                <a:lnTo>
                  <a:pt x="1872566" y="0"/>
                </a:lnTo>
                <a:lnTo>
                  <a:pt x="1872566" y="1939570"/>
                </a:lnTo>
                <a:lnTo>
                  <a:pt x="0" y="19395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379239" y="1786846"/>
            <a:ext cx="7308415" cy="1717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48"/>
              </a:lnSpc>
            </a:pPr>
            <a:r>
              <a:rPr lang="en-US" sz="12848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Introduction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73701" y="3996106"/>
            <a:ext cx="16827907" cy="5124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3"/>
              </a:lnSpc>
            </a:pPr>
          </a:p>
          <a:p>
            <a:pPr algn="just" marL="923609" indent="-461804" lvl="1">
              <a:lnSpc>
                <a:spcPts val="5133"/>
              </a:lnSpc>
              <a:buFont typeface="Arial"/>
              <a:buChar char="•"/>
            </a:pPr>
            <a:r>
              <a:rPr lang="en-US" sz="4277">
                <a:solidFill>
                  <a:srgbClr val="FFFFFF"/>
                </a:solidFill>
                <a:latin typeface="Neo Tech"/>
                <a:ea typeface="Neo Tech"/>
                <a:cs typeface="Neo Tech"/>
                <a:sym typeface="Neo Tech"/>
              </a:rPr>
              <a:t>The task of generating coherent and meaningful text automatically is a major challenge</a:t>
            </a:r>
          </a:p>
          <a:p>
            <a:pPr algn="just" marL="923609" indent="-461804" lvl="1">
              <a:lnSpc>
                <a:spcPts val="5133"/>
              </a:lnSpc>
              <a:buFont typeface="Arial"/>
              <a:buChar char="•"/>
            </a:pPr>
            <a:r>
              <a:rPr lang="en-US" sz="4277">
                <a:solidFill>
                  <a:srgbClr val="FFFFFF"/>
                </a:solidFill>
                <a:latin typeface="Neo Tech"/>
                <a:ea typeface="Neo Tech"/>
                <a:cs typeface="Neo Tech"/>
                <a:sym typeface="Neo Tech"/>
              </a:rPr>
              <a:t>Sequence models like RNN, LSTM, and GRU are effective for learning patterns from sequential data.</a:t>
            </a:r>
          </a:p>
          <a:p>
            <a:pPr algn="just" marL="923609" indent="-461804" lvl="1">
              <a:lnSpc>
                <a:spcPts val="5133"/>
              </a:lnSpc>
              <a:buFont typeface="Arial"/>
              <a:buChar char="•"/>
            </a:pPr>
            <a:r>
              <a:rPr lang="en-US" sz="4277">
                <a:solidFill>
                  <a:srgbClr val="FFFFFF"/>
                </a:solidFill>
                <a:latin typeface="Neo Tech"/>
                <a:ea typeface="Neo Tech"/>
                <a:cs typeface="Neo Tech"/>
                <a:sym typeface="Neo Tech"/>
              </a:rPr>
              <a:t>This project explores and compares the ability of these models to generate creative stories.</a:t>
            </a:r>
          </a:p>
          <a:p>
            <a:pPr algn="just">
              <a:lnSpc>
                <a:spcPts val="5133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4028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-9525"/>
            <a:ext cx="16230600" cy="1038225"/>
            <a:chOff x="0" y="0"/>
            <a:chExt cx="4274726" cy="2734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73442"/>
            </a:xfrm>
            <a:custGeom>
              <a:avLst/>
              <a:gdLst/>
              <a:ahLst/>
              <a:cxnLst/>
              <a:rect r="r" b="b" t="t" l="l"/>
              <a:pathLst>
                <a:path h="273442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73442"/>
                  </a:lnTo>
                  <a:lnTo>
                    <a:pt x="0" y="273442"/>
                  </a:lnTo>
                  <a:close/>
                </a:path>
              </a:pathLst>
            </a:custGeom>
            <a:solidFill>
              <a:srgbClr val="BDADD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311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55846" y="1975653"/>
            <a:ext cx="12674103" cy="1717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48"/>
              </a:lnSpc>
            </a:pPr>
            <a:r>
              <a:rPr lang="en-US" sz="12848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Problem Statement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597587" y="3529479"/>
            <a:ext cx="7068427" cy="87986"/>
            <a:chOff x="0" y="0"/>
            <a:chExt cx="1861643" cy="2317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61643" cy="23173"/>
            </a:xfrm>
            <a:custGeom>
              <a:avLst/>
              <a:gdLst/>
              <a:ahLst/>
              <a:cxnLst/>
              <a:rect r="r" b="b" t="t" l="l"/>
              <a:pathLst>
                <a:path h="23173" w="1861643">
                  <a:moveTo>
                    <a:pt x="0" y="0"/>
                  </a:moveTo>
                  <a:lnTo>
                    <a:pt x="1861643" y="0"/>
                  </a:lnTo>
                  <a:lnTo>
                    <a:pt x="1861643" y="23173"/>
                  </a:lnTo>
                  <a:lnTo>
                    <a:pt x="0" y="2317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861643" cy="61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4004844"/>
            <a:ext cx="15963382" cy="5420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950826" indent="-475413" lvl="1">
              <a:lnSpc>
                <a:spcPts val="5284"/>
              </a:lnSpc>
              <a:buFont typeface="Arial"/>
              <a:buChar char="•"/>
            </a:pPr>
            <a:r>
              <a:rPr lang="en-US" sz="4404">
                <a:solidFill>
                  <a:srgbClr val="FFFFFF"/>
                </a:solidFill>
                <a:latin typeface="Neo Tech Light"/>
                <a:ea typeface="Neo Tech Light"/>
                <a:cs typeface="Neo Tech Light"/>
                <a:sym typeface="Neo Tech Light"/>
              </a:rPr>
              <a:t>Traditional text generation lacks context understanding, leading to incoherent sentences.</a:t>
            </a:r>
          </a:p>
          <a:p>
            <a:pPr algn="just" marL="950826" indent="-475413" lvl="1">
              <a:lnSpc>
                <a:spcPts val="5284"/>
              </a:lnSpc>
              <a:buFont typeface="Arial"/>
              <a:buChar char="•"/>
            </a:pPr>
            <a:r>
              <a:rPr lang="en-US" sz="4404">
                <a:solidFill>
                  <a:srgbClr val="FFFFFF"/>
                </a:solidFill>
                <a:latin typeface="Neo Tech Light"/>
                <a:ea typeface="Neo Tech Light"/>
                <a:cs typeface="Neo Tech Light"/>
                <a:sym typeface="Neo Tech Light"/>
              </a:rPr>
              <a:t>Need for models that can capture long-term dependencies and generate natural-sounding stories.</a:t>
            </a:r>
          </a:p>
          <a:p>
            <a:pPr algn="just" marL="950826" indent="-475413" lvl="1">
              <a:lnSpc>
                <a:spcPts val="5284"/>
              </a:lnSpc>
              <a:buFont typeface="Arial"/>
              <a:buChar char="•"/>
            </a:pPr>
            <a:r>
              <a:rPr lang="en-US" sz="4404">
                <a:solidFill>
                  <a:srgbClr val="FFFFFF"/>
                </a:solidFill>
                <a:latin typeface="Neo Tech Light"/>
                <a:ea typeface="Neo Tech Light"/>
                <a:cs typeface="Neo Tech Light"/>
                <a:sym typeface="Neo Tech Light"/>
              </a:rPr>
              <a:t>Objective:</a:t>
            </a:r>
          </a:p>
          <a:p>
            <a:pPr algn="just" marL="950826" indent="-475413" lvl="1">
              <a:lnSpc>
                <a:spcPts val="5284"/>
              </a:lnSpc>
              <a:buFont typeface="Arial"/>
              <a:buChar char="•"/>
            </a:pPr>
            <a:r>
              <a:rPr lang="en-US" sz="4404">
                <a:solidFill>
                  <a:srgbClr val="FFFFFF"/>
                </a:solidFill>
                <a:latin typeface="Neo Tech Light"/>
                <a:ea typeface="Neo Tech Light"/>
                <a:cs typeface="Neo Tech Light"/>
                <a:sym typeface="Neo Tech Light"/>
              </a:rPr>
              <a:t> ➔ Compare how RNN, LSTM, and GRU perform on text generation</a:t>
            </a:r>
          </a:p>
          <a:p>
            <a:pPr algn="just">
              <a:lnSpc>
                <a:spcPts val="5284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093921" y="0"/>
            <a:ext cx="4571308" cy="10287000"/>
            <a:chOff x="0" y="0"/>
            <a:chExt cx="1203966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3966" cy="2709333"/>
            </a:xfrm>
            <a:custGeom>
              <a:avLst/>
              <a:gdLst/>
              <a:ahLst/>
              <a:cxnLst/>
              <a:rect r="r" b="b" t="t" l="l"/>
              <a:pathLst>
                <a:path h="2709333" w="1203966">
                  <a:moveTo>
                    <a:pt x="0" y="0"/>
                  </a:moveTo>
                  <a:lnTo>
                    <a:pt x="1203966" y="0"/>
                  </a:lnTo>
                  <a:lnTo>
                    <a:pt x="120396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BDADD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03966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55424" y="1113650"/>
            <a:ext cx="4347749" cy="198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43"/>
              </a:lnSpc>
            </a:pPr>
            <a:r>
              <a:rPr lang="en-US" sz="7643">
                <a:solidFill>
                  <a:srgbClr val="402813"/>
                </a:solidFill>
                <a:latin typeface="Bebas Neue"/>
                <a:ea typeface="Bebas Neue"/>
                <a:cs typeface="Bebas Neue"/>
                <a:sym typeface="Bebas Neue"/>
              </a:rPr>
              <a:t>PROCESS</a:t>
            </a:r>
          </a:p>
          <a:p>
            <a:pPr algn="l">
              <a:lnSpc>
                <a:spcPts val="7643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341317" y="2036800"/>
            <a:ext cx="5577703" cy="190500"/>
            <a:chOff x="0" y="0"/>
            <a:chExt cx="1469025" cy="5017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9025" cy="50173"/>
            </a:xfrm>
            <a:custGeom>
              <a:avLst/>
              <a:gdLst/>
              <a:ahLst/>
              <a:cxnLst/>
              <a:rect r="r" b="b" t="t" l="l"/>
              <a:pathLst>
                <a:path h="50173" w="1469025">
                  <a:moveTo>
                    <a:pt x="0" y="0"/>
                  </a:moveTo>
                  <a:lnTo>
                    <a:pt x="1469025" y="0"/>
                  </a:lnTo>
                  <a:lnTo>
                    <a:pt x="1469025" y="50173"/>
                  </a:lnTo>
                  <a:lnTo>
                    <a:pt x="0" y="50173"/>
                  </a:lnTo>
                  <a:close/>
                </a:path>
              </a:pathLst>
            </a:custGeom>
            <a:solidFill>
              <a:srgbClr val="402813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9025" cy="88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3649191" y="2774813"/>
            <a:ext cx="2730384" cy="2606275"/>
          </a:xfrm>
          <a:custGeom>
            <a:avLst/>
            <a:gdLst/>
            <a:ahLst/>
            <a:cxnLst/>
            <a:rect r="r" b="b" t="t" l="l"/>
            <a:pathLst>
              <a:path h="2606275" w="2730384">
                <a:moveTo>
                  <a:pt x="0" y="0"/>
                </a:moveTo>
                <a:lnTo>
                  <a:pt x="2730384" y="0"/>
                </a:lnTo>
                <a:lnTo>
                  <a:pt x="2730384" y="2606275"/>
                </a:lnTo>
                <a:lnTo>
                  <a:pt x="0" y="2606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31792" y="2391211"/>
            <a:ext cx="14682591" cy="7301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59200" indent="-429600" lvl="1">
              <a:lnSpc>
                <a:spcPts val="4775"/>
              </a:lnSpc>
              <a:buAutoNum type="arabicPeriod" startAt="1"/>
            </a:pPr>
            <a:r>
              <a:rPr lang="en-US" sz="3979">
                <a:solidFill>
                  <a:srgbClr val="402813"/>
                </a:solidFill>
                <a:latin typeface="Neo Tech"/>
                <a:ea typeface="Neo Tech"/>
                <a:cs typeface="Neo Tech"/>
                <a:sym typeface="Neo Tech"/>
              </a:rPr>
              <a:t>Text Preprocessing</a:t>
            </a:r>
          </a:p>
          <a:p>
            <a:pPr algn="just" marL="859200" indent="-429600" lvl="1">
              <a:lnSpc>
                <a:spcPts val="4775"/>
              </a:lnSpc>
              <a:buAutoNum type="arabicPeriod" startAt="1"/>
            </a:pPr>
            <a:r>
              <a:rPr lang="en-US" sz="3979">
                <a:solidFill>
                  <a:srgbClr val="402813"/>
                </a:solidFill>
                <a:latin typeface="Neo Tech"/>
                <a:ea typeface="Neo Tech"/>
                <a:cs typeface="Neo Tech"/>
                <a:sym typeface="Neo Tech"/>
              </a:rPr>
              <a:t> ➔ Tokenization, character-level vocabulary creation.</a:t>
            </a:r>
          </a:p>
          <a:p>
            <a:pPr algn="just" marL="859200" indent="-429600" lvl="1">
              <a:lnSpc>
                <a:spcPts val="4775"/>
              </a:lnSpc>
              <a:buAutoNum type="arabicPeriod" startAt="1"/>
            </a:pPr>
            <a:r>
              <a:rPr lang="en-US" sz="3979">
                <a:solidFill>
                  <a:srgbClr val="402813"/>
                </a:solidFill>
                <a:latin typeface="Neo Tech"/>
                <a:ea typeface="Neo Tech"/>
                <a:cs typeface="Neo Tech"/>
                <a:sym typeface="Neo Tech"/>
              </a:rPr>
              <a:t>Model Building</a:t>
            </a:r>
          </a:p>
          <a:p>
            <a:pPr algn="just" marL="859200" indent="-429600" lvl="1">
              <a:lnSpc>
                <a:spcPts val="4775"/>
              </a:lnSpc>
              <a:buAutoNum type="arabicPeriod" startAt="1"/>
            </a:pPr>
            <a:r>
              <a:rPr lang="en-US" sz="3979">
                <a:solidFill>
                  <a:srgbClr val="402813"/>
                </a:solidFill>
                <a:latin typeface="Neo Tech"/>
                <a:ea typeface="Neo Tech"/>
                <a:cs typeface="Neo Tech"/>
                <a:sym typeface="Neo Tech"/>
              </a:rPr>
              <a:t> ➔ Three separate models:</a:t>
            </a:r>
          </a:p>
          <a:p>
            <a:pPr algn="just" marL="1718400" indent="-572800" lvl="2">
              <a:lnSpc>
                <a:spcPts val="4775"/>
              </a:lnSpc>
              <a:buFont typeface="Arial"/>
              <a:buChar char="⚬"/>
            </a:pPr>
            <a:r>
              <a:rPr lang="en-US" sz="3979">
                <a:solidFill>
                  <a:srgbClr val="402813"/>
                </a:solidFill>
                <a:latin typeface="Neo Tech"/>
                <a:ea typeface="Neo Tech"/>
                <a:cs typeface="Neo Tech"/>
                <a:sym typeface="Neo Tech"/>
              </a:rPr>
              <a:t>Simple RNN</a:t>
            </a:r>
          </a:p>
          <a:p>
            <a:pPr algn="just" marL="1718400" indent="-572800" lvl="2">
              <a:lnSpc>
                <a:spcPts val="4775"/>
              </a:lnSpc>
              <a:buFont typeface="Arial"/>
              <a:buChar char="⚬"/>
            </a:pPr>
            <a:r>
              <a:rPr lang="en-US" sz="3979">
                <a:solidFill>
                  <a:srgbClr val="402813"/>
                </a:solidFill>
                <a:latin typeface="Neo Tech"/>
                <a:ea typeface="Neo Tech"/>
                <a:cs typeface="Neo Tech"/>
                <a:sym typeface="Neo Tech"/>
              </a:rPr>
              <a:t>LSTM</a:t>
            </a:r>
          </a:p>
          <a:p>
            <a:pPr algn="just" marL="1718400" indent="-572800" lvl="2">
              <a:lnSpc>
                <a:spcPts val="4775"/>
              </a:lnSpc>
              <a:buFont typeface="Arial"/>
              <a:buChar char="⚬"/>
            </a:pPr>
            <a:r>
              <a:rPr lang="en-US" sz="3979">
                <a:solidFill>
                  <a:srgbClr val="402813"/>
                </a:solidFill>
                <a:latin typeface="Neo Tech"/>
                <a:ea typeface="Neo Tech"/>
                <a:cs typeface="Neo Tech"/>
                <a:sym typeface="Neo Tech"/>
              </a:rPr>
              <a:t>GRU</a:t>
            </a:r>
          </a:p>
          <a:p>
            <a:pPr algn="just" marL="859200" indent="-429600" lvl="1">
              <a:lnSpc>
                <a:spcPts val="4775"/>
              </a:lnSpc>
              <a:buAutoNum type="arabicPeriod" startAt="1"/>
            </a:pPr>
            <a:r>
              <a:rPr lang="en-US" sz="3979">
                <a:solidFill>
                  <a:srgbClr val="402813"/>
                </a:solidFill>
                <a:latin typeface="Neo Tech"/>
                <a:ea typeface="Neo Tech"/>
                <a:cs typeface="Neo Tech"/>
                <a:sym typeface="Neo Tech"/>
              </a:rPr>
              <a:t>Training</a:t>
            </a:r>
          </a:p>
          <a:p>
            <a:pPr algn="just" marL="859200" indent="-429600" lvl="1">
              <a:lnSpc>
                <a:spcPts val="4775"/>
              </a:lnSpc>
              <a:buAutoNum type="arabicPeriod" startAt="1"/>
            </a:pPr>
            <a:r>
              <a:rPr lang="en-US" sz="3979">
                <a:solidFill>
                  <a:srgbClr val="402813"/>
                </a:solidFill>
                <a:latin typeface="Neo Tech"/>
                <a:ea typeface="Neo Tech"/>
                <a:cs typeface="Neo Tech"/>
                <a:sym typeface="Neo Tech"/>
              </a:rPr>
              <a:t> ➔ Using input sequences to predict next characters.</a:t>
            </a:r>
          </a:p>
          <a:p>
            <a:pPr algn="just" marL="859200" indent="-429600" lvl="1">
              <a:lnSpc>
                <a:spcPts val="4775"/>
              </a:lnSpc>
              <a:buAutoNum type="arabicPeriod" startAt="1"/>
            </a:pPr>
            <a:r>
              <a:rPr lang="en-US" sz="3979">
                <a:solidFill>
                  <a:srgbClr val="402813"/>
                </a:solidFill>
                <a:latin typeface="Neo Tech"/>
                <a:ea typeface="Neo Tech"/>
                <a:cs typeface="Neo Tech"/>
                <a:sym typeface="Neo Tech"/>
              </a:rPr>
              <a:t>Text Generation</a:t>
            </a:r>
          </a:p>
          <a:p>
            <a:pPr algn="just" marL="859200" indent="-429600" lvl="1">
              <a:lnSpc>
                <a:spcPts val="4775"/>
              </a:lnSpc>
              <a:buAutoNum type="arabicPeriod" startAt="1"/>
            </a:pPr>
            <a:r>
              <a:rPr lang="en-US" sz="3979">
                <a:solidFill>
                  <a:srgbClr val="402813"/>
                </a:solidFill>
                <a:latin typeface="Neo Tech"/>
                <a:ea typeface="Neo Tech"/>
                <a:cs typeface="Neo Tech"/>
                <a:sym typeface="Neo Tech"/>
              </a:rPr>
              <a:t> ➔ Feeding a seed text to generate new story lines.</a:t>
            </a:r>
          </a:p>
          <a:p>
            <a:pPr algn="just">
              <a:lnSpc>
                <a:spcPts val="4775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028700"/>
            <a:ext cx="18148847" cy="8767792"/>
            <a:chOff x="0" y="0"/>
            <a:chExt cx="4779943" cy="230921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79944" cy="2309213"/>
            </a:xfrm>
            <a:custGeom>
              <a:avLst/>
              <a:gdLst/>
              <a:ahLst/>
              <a:cxnLst/>
              <a:rect r="r" b="b" t="t" l="l"/>
              <a:pathLst>
                <a:path h="2309213" w="4779944">
                  <a:moveTo>
                    <a:pt x="0" y="0"/>
                  </a:moveTo>
                  <a:lnTo>
                    <a:pt x="4779944" y="0"/>
                  </a:lnTo>
                  <a:lnTo>
                    <a:pt x="4779944" y="2309213"/>
                  </a:lnTo>
                  <a:lnTo>
                    <a:pt x="0" y="230921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79943" cy="23473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604354" y="2213349"/>
            <a:ext cx="4820529" cy="5159252"/>
          </a:xfrm>
          <a:custGeom>
            <a:avLst/>
            <a:gdLst/>
            <a:ahLst/>
            <a:cxnLst/>
            <a:rect r="r" b="b" t="t" l="l"/>
            <a:pathLst>
              <a:path h="5159252" w="4820529">
                <a:moveTo>
                  <a:pt x="0" y="0"/>
                </a:moveTo>
                <a:lnTo>
                  <a:pt x="4820530" y="0"/>
                </a:lnTo>
                <a:lnTo>
                  <a:pt x="4820530" y="5159252"/>
                </a:lnTo>
                <a:lnTo>
                  <a:pt x="0" y="51592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0047" t="-14713" r="-72219" b="-18273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646888" y="2868791"/>
            <a:ext cx="6135502" cy="3848368"/>
          </a:xfrm>
          <a:custGeom>
            <a:avLst/>
            <a:gdLst/>
            <a:ahLst/>
            <a:cxnLst/>
            <a:rect r="r" b="b" t="t" l="l"/>
            <a:pathLst>
              <a:path h="3848368" w="6135502">
                <a:moveTo>
                  <a:pt x="0" y="0"/>
                </a:moveTo>
                <a:lnTo>
                  <a:pt x="6135503" y="0"/>
                </a:lnTo>
                <a:lnTo>
                  <a:pt x="6135503" y="3848368"/>
                </a:lnTo>
                <a:lnTo>
                  <a:pt x="0" y="38483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5597" t="-36049" r="-31996" b="-11562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213103" y="2564422"/>
            <a:ext cx="6935744" cy="4006431"/>
          </a:xfrm>
          <a:custGeom>
            <a:avLst/>
            <a:gdLst/>
            <a:ahLst/>
            <a:cxnLst/>
            <a:rect r="r" b="b" t="t" l="l"/>
            <a:pathLst>
              <a:path h="4006431" w="6935744">
                <a:moveTo>
                  <a:pt x="0" y="0"/>
                </a:moveTo>
                <a:lnTo>
                  <a:pt x="6935744" y="0"/>
                </a:lnTo>
                <a:lnTo>
                  <a:pt x="6935744" y="4006431"/>
                </a:lnTo>
                <a:lnTo>
                  <a:pt x="0" y="40064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088" t="-71253" r="-59293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68666" y="7494257"/>
            <a:ext cx="147449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RNN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824399" y="7494257"/>
            <a:ext cx="1780481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LSTM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707587" y="7277351"/>
            <a:ext cx="143232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GRU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55906" y="997878"/>
            <a:ext cx="14884003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ARCHITECTURE DIAGRAM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DAD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08535" y="1181100"/>
            <a:ext cx="13996316" cy="1182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71"/>
              </a:lnSpc>
            </a:pPr>
            <a:r>
              <a:rPr lang="en-US" sz="8771">
                <a:solidFill>
                  <a:srgbClr val="402813"/>
                </a:solidFill>
                <a:latin typeface="Bebas Neue"/>
                <a:ea typeface="Bebas Neue"/>
                <a:cs typeface="Bebas Neue"/>
                <a:sym typeface="Bebas Neue"/>
              </a:rPr>
              <a:t>Comparative Table for RNN, LSTM, GRU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48782" y="2012492"/>
            <a:ext cx="5821947" cy="190500"/>
            <a:chOff x="0" y="0"/>
            <a:chExt cx="1533352" cy="5017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33352" cy="50173"/>
            </a:xfrm>
            <a:custGeom>
              <a:avLst/>
              <a:gdLst/>
              <a:ahLst/>
              <a:cxnLst/>
              <a:rect r="r" b="b" t="t" l="l"/>
              <a:pathLst>
                <a:path h="50173" w="1533352">
                  <a:moveTo>
                    <a:pt x="0" y="0"/>
                  </a:moveTo>
                  <a:lnTo>
                    <a:pt x="1533352" y="0"/>
                  </a:lnTo>
                  <a:lnTo>
                    <a:pt x="1533352" y="50173"/>
                  </a:lnTo>
                  <a:lnTo>
                    <a:pt x="0" y="50173"/>
                  </a:lnTo>
                  <a:close/>
                </a:path>
              </a:pathLst>
            </a:custGeom>
            <a:solidFill>
              <a:srgbClr val="402813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533352" cy="88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5304850" y="576590"/>
            <a:ext cx="2020985" cy="1918099"/>
          </a:xfrm>
          <a:custGeom>
            <a:avLst/>
            <a:gdLst/>
            <a:ahLst/>
            <a:cxnLst/>
            <a:rect r="r" b="b" t="t" l="l"/>
            <a:pathLst>
              <a:path h="1918099" w="2020985">
                <a:moveTo>
                  <a:pt x="0" y="0"/>
                </a:moveTo>
                <a:lnTo>
                  <a:pt x="2020986" y="0"/>
                </a:lnTo>
                <a:lnTo>
                  <a:pt x="2020986" y="1918099"/>
                </a:lnTo>
                <a:lnTo>
                  <a:pt x="0" y="19180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976579" y="2494689"/>
            <a:ext cx="11143229" cy="6570801"/>
          </a:xfrm>
          <a:custGeom>
            <a:avLst/>
            <a:gdLst/>
            <a:ahLst/>
            <a:cxnLst/>
            <a:rect r="r" b="b" t="t" l="l"/>
            <a:pathLst>
              <a:path h="6570801" w="11143229">
                <a:moveTo>
                  <a:pt x="0" y="0"/>
                </a:moveTo>
                <a:lnTo>
                  <a:pt x="11143229" y="0"/>
                </a:lnTo>
                <a:lnTo>
                  <a:pt x="11143229" y="6570801"/>
                </a:lnTo>
                <a:lnTo>
                  <a:pt x="0" y="65708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6575" t="-47962" r="-43933" b="-41846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558261" y="0"/>
            <a:ext cx="4571308" cy="10287000"/>
            <a:chOff x="0" y="0"/>
            <a:chExt cx="1203966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3966" cy="2709333"/>
            </a:xfrm>
            <a:custGeom>
              <a:avLst/>
              <a:gdLst/>
              <a:ahLst/>
              <a:cxnLst/>
              <a:rect r="r" b="b" t="t" l="l"/>
              <a:pathLst>
                <a:path h="2709333" w="1203966">
                  <a:moveTo>
                    <a:pt x="0" y="0"/>
                  </a:moveTo>
                  <a:lnTo>
                    <a:pt x="1203966" y="0"/>
                  </a:lnTo>
                  <a:lnTo>
                    <a:pt x="120396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BDADD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03966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2257221"/>
            <a:ext cx="5854097" cy="190500"/>
            <a:chOff x="0" y="0"/>
            <a:chExt cx="1541820" cy="5017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41820" cy="50173"/>
            </a:xfrm>
            <a:custGeom>
              <a:avLst/>
              <a:gdLst/>
              <a:ahLst/>
              <a:cxnLst/>
              <a:rect r="r" b="b" t="t" l="l"/>
              <a:pathLst>
                <a:path h="50173" w="1541820">
                  <a:moveTo>
                    <a:pt x="0" y="0"/>
                  </a:moveTo>
                  <a:lnTo>
                    <a:pt x="1541820" y="0"/>
                  </a:lnTo>
                  <a:lnTo>
                    <a:pt x="1541820" y="50173"/>
                  </a:lnTo>
                  <a:lnTo>
                    <a:pt x="0" y="50173"/>
                  </a:lnTo>
                  <a:close/>
                </a:path>
              </a:pathLst>
            </a:custGeom>
            <a:solidFill>
              <a:srgbClr val="40281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41820" cy="88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3945381" y="2189765"/>
            <a:ext cx="2056529" cy="2758758"/>
          </a:xfrm>
          <a:custGeom>
            <a:avLst/>
            <a:gdLst/>
            <a:ahLst/>
            <a:cxnLst/>
            <a:rect r="r" b="b" t="t" l="l"/>
            <a:pathLst>
              <a:path h="2758758" w="2056529">
                <a:moveTo>
                  <a:pt x="0" y="0"/>
                </a:moveTo>
                <a:lnTo>
                  <a:pt x="2056529" y="0"/>
                </a:lnTo>
                <a:lnTo>
                  <a:pt x="2056529" y="2758759"/>
                </a:lnTo>
                <a:lnTo>
                  <a:pt x="0" y="27587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336902" y="798646"/>
            <a:ext cx="6052514" cy="1717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48"/>
              </a:lnSpc>
            </a:pPr>
            <a:r>
              <a:rPr lang="en-US" sz="12848">
                <a:solidFill>
                  <a:srgbClr val="402813"/>
                </a:solidFill>
                <a:latin typeface="Bebas Neue"/>
                <a:ea typeface="Bebas Neue"/>
                <a:cs typeface="Bebas Neue"/>
                <a:sym typeface="Bebas Neue"/>
              </a:rPr>
              <a:t>conclusion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39238" y="4652327"/>
            <a:ext cx="952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2963546"/>
            <a:ext cx="9148762" cy="6581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402813"/>
                </a:solidFill>
                <a:latin typeface="Canva Sans"/>
                <a:ea typeface="Canva Sans"/>
                <a:cs typeface="Canva Sans"/>
                <a:sym typeface="Canva Sans"/>
              </a:rPr>
              <a:t>RNN: Limited accuracy and memory, with poor story quality. Suitable only for simple tasks.</a:t>
            </a:r>
          </a:p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402813"/>
                </a:solidFill>
                <a:latin typeface="Canva Sans"/>
                <a:ea typeface="Canva Sans"/>
                <a:cs typeface="Canva Sans"/>
                <a:sym typeface="Canva Sans"/>
              </a:rPr>
              <a:t>LSTM: Excellent at long-term memory, generating coherent, high-quality stories. Best for detailed, creative writing but computationally complex.</a:t>
            </a:r>
          </a:p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402813"/>
                </a:solidFill>
                <a:latin typeface="Canva Sans"/>
                <a:ea typeface="Canva Sans"/>
                <a:cs typeface="Canva Sans"/>
                <a:sym typeface="Canva Sans"/>
              </a:rPr>
              <a:t>GRU: Similar to LSTM in performance but faster and less complex, offering a good balance for creative tasks.</a:t>
            </a:r>
          </a:p>
          <a:p>
            <a:pPr algn="ctr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977562"/>
            <a:ext cx="5517003" cy="4738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0"/>
              </a:lnSpc>
            </a:pPr>
            <a:r>
              <a:rPr lang="en-US" sz="18200">
                <a:solidFill>
                  <a:srgbClr val="402813"/>
                </a:solidFill>
                <a:latin typeface="Bebas Neue"/>
                <a:ea typeface="Bebas Neue"/>
                <a:cs typeface="Bebas Neue"/>
                <a:sym typeface="Bebas Neue"/>
              </a:rPr>
              <a:t>Thank you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5301701" y="1812497"/>
            <a:ext cx="11957599" cy="8474503"/>
          </a:xfrm>
          <a:custGeom>
            <a:avLst/>
            <a:gdLst/>
            <a:ahLst/>
            <a:cxnLst/>
            <a:rect r="r" b="b" t="t" l="l"/>
            <a:pathLst>
              <a:path h="8474503" w="11957599">
                <a:moveTo>
                  <a:pt x="0" y="0"/>
                </a:moveTo>
                <a:lnTo>
                  <a:pt x="11957599" y="0"/>
                </a:lnTo>
                <a:lnTo>
                  <a:pt x="11957599" y="8474503"/>
                </a:lnTo>
                <a:lnTo>
                  <a:pt x="0" y="84745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-7236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3271904"/>
            <a:ext cx="265384" cy="3908248"/>
            <a:chOff x="0" y="0"/>
            <a:chExt cx="69895" cy="102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9895" cy="1029333"/>
            </a:xfrm>
            <a:custGeom>
              <a:avLst/>
              <a:gdLst/>
              <a:ahLst/>
              <a:cxnLst/>
              <a:rect r="r" b="b" t="t" l="l"/>
              <a:pathLst>
                <a:path h="1029333" w="69895">
                  <a:moveTo>
                    <a:pt x="0" y="0"/>
                  </a:moveTo>
                  <a:lnTo>
                    <a:pt x="69895" y="0"/>
                  </a:lnTo>
                  <a:lnTo>
                    <a:pt x="69895" y="1029333"/>
                  </a:lnTo>
                  <a:lnTo>
                    <a:pt x="0" y="1029333"/>
                  </a:lnTo>
                  <a:close/>
                </a:path>
              </a:pathLst>
            </a:custGeom>
            <a:solidFill>
              <a:srgbClr val="BDADD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69895" cy="106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DAGl85EOeLs</dc:identifier>
  <dcterms:modified xsi:type="dcterms:W3CDTF">2011-08-01T06:04:30Z</dcterms:modified>
  <cp:revision>1</cp:revision>
  <dc:title>Purple and Brown Illustration Innovation Project Presentation </dc:title>
</cp:coreProperties>
</file>